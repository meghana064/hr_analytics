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Workforce Guardian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Employee Attrition Prediction &amp; Analytics</a:t>
            </a:r>
          </a:p>
          <a:p>
            <a:r>
              <a:t>HR Analytics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problem: Why attrition matters</a:t>
            </a:r>
          </a:p>
          <a:p>
            <a:pPr>
              <a:spcAft>
                <a:spcPts val="600"/>
              </a:spcAft>
            </a:pPr>
            <a:r>
              <a:t>Our solution: AI Workforce Guardian</a:t>
            </a:r>
          </a:p>
          <a:p>
            <a:pPr>
              <a:spcAft>
                <a:spcPts val="600"/>
              </a:spcAft>
            </a:pPr>
            <a:r>
              <a:t>Key features &amp; capabilities</a:t>
            </a:r>
          </a:p>
          <a:p>
            <a:pPr>
              <a:spcAft>
                <a:spcPts val="600"/>
              </a:spcAft>
            </a:pPr>
            <a:r>
              <a:t>Dashboard walkthrough</a:t>
            </a:r>
          </a:p>
          <a:p>
            <a:pPr>
              <a:spcAft>
                <a:spcPts val="600"/>
              </a:spcAft>
            </a:pPr>
            <a:r>
              <a:t>Model accuracy &amp; reliability</a:t>
            </a:r>
          </a:p>
          <a:p>
            <a:pPr>
              <a:spcAft>
                <a:spcPts val="600"/>
              </a:spcAft>
            </a:pPr>
            <a:r>
              <a:t>How HR can use it</a:t>
            </a:r>
          </a:p>
          <a:p>
            <a:pPr>
              <a:spcAft>
                <a:spcPts val="600"/>
              </a:spcAft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Employee Attrition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Financial Impact: Recruitment costs 50–75% of annual salary per hire; 6–9 months to full productivity</a:t>
            </a:r>
          </a:p>
          <a:p>
            <a:pPr>
              <a:spcAft>
                <a:spcPts val="600"/>
              </a:spcAft>
            </a:pPr>
            <a:r>
              <a:t>Operational Impact: Project delays, team morale decline, institutional knowledge loss</a:t>
            </a:r>
          </a:p>
          <a:p>
            <a:pPr>
              <a:spcAft>
                <a:spcPts val="600"/>
              </a:spcAft>
            </a:pPr>
            <a:r>
              <a:t>Industry average attrition rate: 13–15% annually</a:t>
            </a:r>
          </a:p>
          <a:p>
            <a:pPr>
              <a:spcAft>
                <a:spcPts val="600"/>
              </a:spcAft>
            </a:pPr>
            <a:r>
              <a:t>Key Message: Acting after employees leave is expensive—we need to predict and prevent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Reactive to Proactive Retention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Traditional (Reactive)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AI-Powered (Proactive)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 after resignation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Identify at-risk employees early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Exit interviews (too late)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Early retention conversations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Targeted, personalized actions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Data-driven predictions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Workforce Guardian — End-to-End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Company-level dashboard: KPIs, attrition rates, department trends</a:t>
            </a:r>
          </a:p>
          <a:p>
            <a:pPr>
              <a:spcAft>
                <a:spcPts val="600"/>
              </a:spcAft>
            </a:pPr>
            <a:r>
              <a:t>Individual risk analyzer: Per-employee attrition probability</a:t>
            </a:r>
          </a:p>
          <a:p>
            <a:pPr>
              <a:spcAft>
                <a:spcPts val="600"/>
              </a:spcAft>
            </a:pPr>
            <a:r>
              <a:t>AI explanations: Why an employee is at risk</a:t>
            </a:r>
          </a:p>
          <a:p>
            <a:pPr>
              <a:spcAft>
                <a:spcPts val="600"/>
              </a:spcAft>
            </a:pPr>
            <a:r>
              <a:t>HR recommendations: Actionable retention suggestions</a:t>
            </a:r>
          </a:p>
          <a:p>
            <a:pPr>
              <a:spcAft>
                <a:spcPts val="600"/>
              </a:spcAft>
            </a:pPr>
            <a:r>
              <a:t>Employees at risk: Prioritized list for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With Industry-Standard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Machine Learning: Random Forest &amp; SVM models; Scikit-learn; ~85% accuracy</a:t>
            </a:r>
          </a:p>
          <a:p>
            <a:pPr>
              <a:spcAft>
                <a:spcPts val="600"/>
              </a:spcAft>
            </a:pPr>
            <a:r>
              <a:t>Analytics: Streamlit dashboard, Plotly charts, dark Netflix-style UI</a:t>
            </a:r>
          </a:p>
          <a:p>
            <a:pPr>
              <a:spcAft>
                <a:spcPts val="600"/>
              </a:spcAft>
            </a:pPr>
            <a:r>
              <a:t>Data: IBM HR Analytics dataset (1,470 employees, 35+ features)</a:t>
            </a:r>
          </a:p>
          <a:p>
            <a:pPr>
              <a:spcAft>
                <a:spcPts val="600"/>
              </a:spcAft>
            </a:pPr>
            <a:r>
              <a:t>Features: Age, Department, Job Role, Salary, Overtime, Satisfaction, Tenure,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Company-Level Metrics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What It Tells HR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Total 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 workforce size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Attrition Rate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who left in the period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Employees 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 with ≥30% predicted attrition probability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Avg Monthly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Compensation benchmark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Define Risk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HR Action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 routinely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30–60%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Schedule 1:1, review needs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Prioritize retention, immediate intervention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Explanations &amp; HR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AI Explanations (examples): 'High risk due to overtime, low salary'; 'Elevated risk from low job satisfaction'</a:t>
            </a:r>
          </a:p>
          <a:p>
            <a:pPr>
              <a:spcAft>
                <a:spcPts val="600"/>
              </a:spcAft>
            </a:pPr>
            <a:r>
              <a:t>HR Recommendations: Reduce overtime; Review salary; Offer promotions; Improve work-life balance</a:t>
            </a:r>
          </a:p>
          <a:p>
            <a:pPr>
              <a:spcAft>
                <a:spcPts val="600"/>
              </a:spcAft>
            </a:pPr>
            <a:r>
              <a:t>Not just a number—understand the why behind each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Factors Causing Attrition (From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Overtime | 2. Monthly Income | 3. Job Satisfaction | 4. Years at Company</a:t>
            </a:r>
          </a:p>
          <a:p>
            <a:pPr>
              <a:spcAft>
                <a:spcPts val="600"/>
              </a:spcAft>
            </a:pPr>
            <a:r>
              <a:t>5. Work-Life Balance | 6. Age | 7. Years in Current Role | 8. Environment Satisfaction</a:t>
            </a:r>
          </a:p>
          <a:p>
            <a:pPr>
              <a:spcAft>
                <a:spcPts val="600"/>
              </a:spcAft>
            </a:pPr>
            <a:r>
              <a:t>Implication: Focus retention efforts on these levers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56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19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426719">
                <a:tc>
                  <a:txBody>
                    <a:bodyPr/>
                    <a:lstStyle/>
                    <a:p>
                      <a:r>
                        <a:t>Company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KPIs, charts, overall trends</a:t>
                      </a:r>
                    </a:p>
                  </a:txBody>
                  <a:tcPr/>
                </a:tc>
              </a:tr>
              <a:tr h="426719">
                <a:tc>
                  <a:txBody>
                    <a:bodyPr/>
                    <a:lstStyle/>
                    <a:p>
                      <a:r>
                        <a:t>HR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Department filter, top risk employees</a:t>
                      </a:r>
                    </a:p>
                  </a:txBody>
                  <a:tcPr/>
                </a:tc>
              </a:tr>
              <a:tr h="426719">
                <a:tc>
                  <a:txBody>
                    <a:bodyPr/>
                    <a:lstStyle/>
                    <a:p>
                      <a:r>
                        <a:t>Individual Risk Analyzer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Search by name, get prediction + explanation</a:t>
                      </a:r>
                    </a:p>
                  </a:txBody>
                  <a:tcPr/>
                </a:tc>
              </a:tr>
              <a:tr h="426719">
                <a:tc>
                  <a:txBody>
                    <a:bodyPr/>
                    <a:lstStyle/>
                    <a:p>
                      <a:r>
                        <a:t>Attrition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 of employees who left</a:t>
                      </a:r>
                    </a:p>
                  </a:txBody>
                  <a:tcPr/>
                </a:tc>
              </a:tr>
              <a:tr h="426724">
                <a:tc>
                  <a:txBody>
                    <a:bodyPr/>
                    <a:lstStyle/>
                    <a:p>
                      <a:r>
                        <a:t>Employees 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Prioritized list; click for details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Accuracy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737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9119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79119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model; feature importance</a:t>
                      </a:r>
                    </a:p>
                  </a:txBody>
                  <a:tcPr/>
                </a:tc>
              </a:tr>
              <a:tr h="579121">
                <a:tc>
                  <a:txBody>
                    <a:bodyPr/>
                    <a:lstStyle/>
                    <a:p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Comparable performance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Accuracy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Data split: 80% training, 20% testing (stratified for class balance)</a:t>
            </a:r>
          </a:p>
          <a:p>
            <a:pPr>
              <a:spcAft>
                <a:spcPts val="600"/>
              </a:spcAft>
            </a:pPr>
            <a:r>
              <a:t>Predictions are probabilistic—use as a guide, not a guarantee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Use Cases for 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Weekly review: Check Employees at Risk list; prioritize high-risk employees</a:t>
            </a:r>
          </a:p>
          <a:p>
            <a:pPr>
              <a:spcAft>
                <a:spcPts val="600"/>
              </a:spcAft>
            </a:pPr>
            <a:r>
              <a:t>1:1 planning: Use AI recommendations to prepare talking points</a:t>
            </a:r>
          </a:p>
          <a:p>
            <a:pPr>
              <a:spcAft>
                <a:spcPts val="600"/>
              </a:spcAft>
            </a:pPr>
            <a:r>
              <a:t>Department focus: Filter by department to see which teams need attention</a:t>
            </a:r>
          </a:p>
          <a:p>
            <a:pPr>
              <a:spcAft>
                <a:spcPts val="600"/>
              </a:spcAft>
            </a:pPr>
            <a:r>
              <a:t>Retention programs: Target overtime, salary, satisfaction based on model insights</a:t>
            </a:r>
          </a:p>
          <a:p>
            <a:pPr>
              <a:spcAft>
                <a:spcPts val="600"/>
              </a:spcAft>
            </a:pPr>
            <a:r>
              <a:t>Budget planning: Use risk counts for retention budget justification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&amp; Ethical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Analysis uses anonymized/aggregated HR data</a:t>
            </a:r>
          </a:p>
          <a:p>
            <a:pPr>
              <a:spcAft>
                <a:spcPts val="600"/>
              </a:spcAft>
            </a:pPr>
            <a:r>
              <a:t>Individual predictions for internal retention planning only</a:t>
            </a:r>
          </a:p>
          <a:p>
            <a:pPr>
              <a:spcAft>
                <a:spcPts val="600"/>
              </a:spcAft>
            </a:pPr>
            <a:r>
              <a:t>No automated employment decisions—HR makes final calls</a:t>
            </a:r>
          </a:p>
          <a:p>
            <a:pPr>
              <a:spcAft>
                <a:spcPts val="600"/>
              </a:spcAft>
            </a:pPr>
            <a:r>
              <a:t>Comply with local labor and data protection regulations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Pilot: Run for 1–2 departments; validate with HR feedback</a:t>
            </a:r>
          </a:p>
          <a:p>
            <a:pPr>
              <a:spcAft>
                <a:spcPts val="600"/>
              </a:spcAft>
            </a:pPr>
            <a:r>
              <a:t>2. Calibrate: Adjust risk threshold (e.g., 30%) based on capacity</a:t>
            </a:r>
          </a:p>
          <a:p>
            <a:pPr>
              <a:spcAft>
                <a:spcPts val="600"/>
              </a:spcAft>
            </a:pPr>
            <a:r>
              <a:t>3. Integrate: Link to HRIS or performance data if available</a:t>
            </a:r>
          </a:p>
          <a:p>
            <a:pPr>
              <a:spcAft>
                <a:spcPts val="600"/>
              </a:spcAft>
            </a:pPr>
            <a:r>
              <a:t>4. Train: Brief HR team on dashboard usage</a:t>
            </a:r>
          </a:p>
          <a:p>
            <a:pPr>
              <a:spcAft>
                <a:spcPts val="600"/>
              </a:spcAft>
            </a:pPr>
            <a:r>
              <a:t>5. Review: Monthly review of model accuracy and outcomes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AI Workforce Guardian predicts attrition risk before employees leave</a:t>
            </a:r>
          </a:p>
          <a:p>
            <a:pPr>
              <a:spcAft>
                <a:spcPts val="600"/>
              </a:spcAft>
            </a:pPr>
            <a:r>
              <a:t>Dashboard provides company-level and individual-level insights</a:t>
            </a:r>
          </a:p>
          <a:p>
            <a:pPr>
              <a:spcAft>
                <a:spcPts val="600"/>
              </a:spcAft>
            </a:pPr>
            <a:r>
              <a:t>AI explanations and recommendations support retention actions</a:t>
            </a:r>
          </a:p>
          <a:p>
            <a:pPr>
              <a:spcAft>
                <a:spcPts val="600"/>
              </a:spcAft>
            </a:pPr>
            <a:r>
              <a:t>Model accuracy ~84–85%; use as decision support</a:t>
            </a:r>
          </a:p>
          <a:p>
            <a:pPr>
              <a:spcAft>
                <a:spcPts val="600"/>
              </a:spcAft>
            </a:pPr>
            <a:r>
              <a:t>HR can act proactively to retain talent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